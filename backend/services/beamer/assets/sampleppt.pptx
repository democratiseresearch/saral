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8288000" cy="10287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4FE0B-B64F-4742-B458-913AC68B09C4}" v="181" dt="2025-12-02T10:57:34.294"/>
    <p1510:client id="{FD5B6784-7A2D-27BC-4299-BE33A7E17A0D}" v="4" dt="2025-12-02T10:25:04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BF1AF7-C21E-4FB5-8010-0927218C162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12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9778010-C028-4DD7-AD62-582AE9011C6A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12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28B9EC-BFFB-4700-B1D6-A8F0F5A62EF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24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9347760" y="2406960"/>
            <a:ext cx="803124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4C38B7A-DB1A-4CF9-9D2B-CE9E2114269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B44446-3F13-4E08-9807-7A01501128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120" cy="795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D394527-17BB-4CEA-84D8-257580FF6C6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7760" y="2406960"/>
            <a:ext cx="803124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14400" y="311580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810BD5A-5267-4504-B3B2-F8082AA7948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24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7760" y="240696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347760" y="311580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EECAF6F-9DE7-4BEB-AC43-523814F500C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347760" y="240696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914400" y="3115800"/>
            <a:ext cx="1645812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AEE794-319B-4F53-A06C-E29D76538AE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12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914400" y="3115800"/>
            <a:ext cx="1645812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684563-2C18-4F10-9D14-4F8B1DAF274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9347760" y="240696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914400" y="311580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9347760" y="3115800"/>
            <a:ext cx="803124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09F124-477A-4D61-A0CC-8F7E59242E7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20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478920" y="2406960"/>
            <a:ext cx="529920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12043440" y="2406960"/>
            <a:ext cx="529920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914400" y="3115800"/>
            <a:ext cx="529920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6478920" y="3115800"/>
            <a:ext cx="529920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12043440" y="3115800"/>
            <a:ext cx="5299200" cy="64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85B0EF5-30F2-48E7-ACFE-8E742F3D70CD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12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7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914400" y="3893040"/>
            <a:ext cx="16458120" cy="135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7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25560">
            <a:noFill/>
          </a:ln>
        </p:spPr>
        <p:txBody>
          <a:bodyPr lIns="90000" tIns="45000" rIns="90000" bIns="45000" anchor="ctr" anchorCtr="1">
            <a:noAutofit/>
          </a:bodyPr>
          <a:lstStyle>
            <a:lvl1pPr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2556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7BFC155-71A5-4736-AE9B-43070B63CDE5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2556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2"/>
          <p:cNvSpPr/>
          <p:nvPr/>
        </p:nvSpPr>
        <p:spPr>
          <a:xfrm>
            <a:off x="296280" y="511560"/>
            <a:ext cx="731160" cy="685080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4"/>
                </a:lnTo>
                <a:lnTo>
                  <a:pt x="0" y="68655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3" name="Group 6"/>
          <p:cNvGrpSpPr/>
          <p:nvPr/>
        </p:nvGrpSpPr>
        <p:grpSpPr>
          <a:xfrm>
            <a:off x="16850520" y="7365240"/>
            <a:ext cx="1189440" cy="1189440"/>
            <a:chOff x="16850520" y="7365240"/>
            <a:chExt cx="1189440" cy="1189440"/>
          </a:xfrm>
        </p:grpSpPr>
        <p:sp>
          <p:nvSpPr>
            <p:cNvPr id="44" name="Freeform 7"/>
            <p:cNvSpPr/>
            <p:nvPr/>
          </p:nvSpPr>
          <p:spPr>
            <a:xfrm>
              <a:off x="16850520" y="7365240"/>
              <a:ext cx="1189440" cy="118944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D6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5" name="TextBox 8"/>
            <p:cNvSpPr/>
            <p:nvPr/>
          </p:nvSpPr>
          <p:spPr>
            <a:xfrm>
              <a:off x="16962480" y="7407360"/>
              <a:ext cx="965880" cy="1035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" name="TextBox 12"/>
          <p:cNvSpPr/>
          <p:nvPr/>
        </p:nvSpPr>
        <p:spPr>
          <a:xfrm>
            <a:off x="1919880" y="851040"/>
            <a:ext cx="14743440" cy="9233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000000"/>
                </a:solidFill>
                <a:latin typeface="Arial"/>
                <a:ea typeface="Poppins Bold"/>
              </a:rPr>
              <a:t>Research Proposal Presentation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47" name="TextBox 13"/>
          <p:cNvSpPr/>
          <p:nvPr/>
        </p:nvSpPr>
        <p:spPr>
          <a:xfrm>
            <a:off x="1771560" y="4861080"/>
            <a:ext cx="14743440" cy="46794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4025"/>
              </a:lnSpc>
              <a:buNone/>
              <a:tabLst>
                <a:tab pos="0" algn="l"/>
              </a:tabLst>
            </a:pPr>
            <a:r>
              <a:rPr lang="en-US" sz="2850" b="0" strike="noStrike" spc="514">
                <a:solidFill>
                  <a:srgbClr val="705C40"/>
                </a:solidFill>
                <a:latin typeface="Arial"/>
                <a:ea typeface="Inter"/>
              </a:rPr>
              <a:t>PRODUCT RESEARCH PROPOSAL FOR INGOUDE COMPANY</a:t>
            </a:r>
            <a:endParaRPr lang="en-US" sz="285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"/>
          <p:cNvGrpSpPr/>
          <p:nvPr/>
        </p:nvGrpSpPr>
        <p:grpSpPr>
          <a:xfrm>
            <a:off x="848880" y="490320"/>
            <a:ext cx="16578720" cy="9088200"/>
            <a:chOff x="848880" y="490320"/>
            <a:chExt cx="16578720" cy="9088200"/>
          </a:xfrm>
        </p:grpSpPr>
        <p:sp>
          <p:nvSpPr>
            <p:cNvPr id="49" name="Freeform 3"/>
            <p:cNvSpPr/>
            <p:nvPr/>
          </p:nvSpPr>
          <p:spPr>
            <a:xfrm>
              <a:off x="848880" y="637560"/>
              <a:ext cx="16578720" cy="8940960"/>
            </a:xfrm>
            <a:custGeom>
              <a:avLst/>
              <a:gdLst/>
              <a:ahLst/>
              <a:cxnLst/>
              <a:rect l="l" t="t" r="r" b="b"/>
              <a:pathLst>
                <a:path w="4908640" h="2891600">
                  <a:moveTo>
                    <a:pt x="0" y="0"/>
                  </a:moveTo>
                  <a:lnTo>
                    <a:pt x="4908640" y="0"/>
                  </a:lnTo>
                  <a:lnTo>
                    <a:pt x="4908640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TextBox 4"/>
            <p:cNvSpPr/>
            <p:nvPr/>
          </p:nvSpPr>
          <p:spPr>
            <a:xfrm>
              <a:off x="848880" y="490320"/>
              <a:ext cx="16578720" cy="9088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1" name="Freeform 5"/>
          <p:cNvSpPr/>
          <p:nvPr/>
        </p:nvSpPr>
        <p:spPr>
          <a:xfrm>
            <a:off x="1280520" y="8446320"/>
            <a:ext cx="731160" cy="685080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AutoShape 7"/>
          <p:cNvSpPr/>
          <p:nvPr/>
        </p:nvSpPr>
        <p:spPr>
          <a:xfrm flipV="1">
            <a:off x="2381760" y="8721720"/>
            <a:ext cx="14863320" cy="117000"/>
          </a:xfrm>
          <a:custGeom>
            <a:avLst/>
            <a:gdLst/>
            <a:ahLst/>
            <a:cxnLst/>
            <a:rect l="l" t="t" r="r" b="b"/>
            <a:pathLst>
              <a:path w="2719098" h="21600">
                <a:moveTo>
                  <a:pt x="0" y="0"/>
                </a:moveTo>
                <a:lnTo>
                  <a:pt x="2719098" y="21600"/>
                </a:lnTo>
              </a:path>
            </a:pathLst>
          </a:custGeom>
          <a:noFill/>
          <a:ln w="38160">
            <a:solidFill>
              <a:srgbClr val="BCA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Box 11"/>
          <p:cNvSpPr/>
          <p:nvPr/>
        </p:nvSpPr>
        <p:spPr>
          <a:xfrm>
            <a:off x="1494720" y="1145160"/>
            <a:ext cx="9495720" cy="12311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buNone/>
              <a:tabLst>
                <a:tab pos="0" algn="l"/>
              </a:tabLst>
            </a:pPr>
            <a:r>
              <a:rPr lang="en-US" sz="8000" b="1" strike="noStrike" spc="-1">
                <a:solidFill>
                  <a:srgbClr val="000000"/>
                </a:solidFill>
                <a:latin typeface="Arial"/>
                <a:ea typeface="Poppins Bold"/>
              </a:rPr>
              <a:t>Introduction</a:t>
            </a:r>
            <a:endParaRPr lang="en-US" sz="8000" b="0" strike="noStrike" spc="-1">
              <a:latin typeface="Arial"/>
            </a:endParaRPr>
          </a:p>
        </p:txBody>
      </p:sp>
      <p:sp>
        <p:nvSpPr>
          <p:cNvPr id="54" name="TextBox 12"/>
          <p:cNvSpPr/>
          <p:nvPr/>
        </p:nvSpPr>
        <p:spPr>
          <a:xfrm>
            <a:off x="1496160" y="3753360"/>
            <a:ext cx="15194789" cy="221599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Arial"/>
                <a:ea typeface="Inter"/>
              </a:rPr>
              <a:t>Warm greetings to all present. As we gather here today, I am excited to introduce our research proposal for </a:t>
            </a:r>
            <a:r>
              <a:rPr lang="en-US" sz="3600" b="0" strike="noStrike" spc="-1" err="1">
                <a:solidFill>
                  <a:srgbClr val="000000"/>
                </a:solidFill>
                <a:latin typeface="Arial"/>
                <a:ea typeface="Inter"/>
              </a:rPr>
              <a:t>Ingoude</a:t>
            </a:r>
            <a:r>
              <a:rPr lang="en-US" sz="3600" b="0" strike="noStrike" spc="-1" dirty="0">
                <a:solidFill>
                  <a:srgbClr val="000000"/>
                </a:solidFill>
                <a:latin typeface="Arial"/>
                <a:ea typeface="Inter"/>
              </a:rPr>
              <a:t> Company, which aims to address key challenges and capitalize on emerging opportunities in the market.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F72A-8774-7F19-0D6A-84826E399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">
            <a:extLst>
              <a:ext uri="{FF2B5EF4-FFF2-40B4-BE49-F238E27FC236}">
                <a16:creationId xmlns:a16="http://schemas.microsoft.com/office/drawing/2014/main" id="{36B94A1D-FC10-9EF1-91E3-FDB39AA7039F}"/>
              </a:ext>
            </a:extLst>
          </p:cNvPr>
          <p:cNvGrpSpPr/>
          <p:nvPr/>
        </p:nvGrpSpPr>
        <p:grpSpPr>
          <a:xfrm>
            <a:off x="848880" y="490320"/>
            <a:ext cx="16578720" cy="9088200"/>
            <a:chOff x="848880" y="490320"/>
            <a:chExt cx="16578720" cy="9088200"/>
          </a:xfrm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5835FECC-D6D6-5807-28BD-177EBD4E2427}"/>
                </a:ext>
              </a:extLst>
            </p:cNvPr>
            <p:cNvSpPr/>
            <p:nvPr/>
          </p:nvSpPr>
          <p:spPr>
            <a:xfrm>
              <a:off x="848880" y="637560"/>
              <a:ext cx="16578720" cy="8940960"/>
            </a:xfrm>
            <a:custGeom>
              <a:avLst/>
              <a:gdLst/>
              <a:ahLst/>
              <a:cxnLst/>
              <a:rect l="l" t="t" r="r" b="b"/>
              <a:pathLst>
                <a:path w="4908640" h="2891600">
                  <a:moveTo>
                    <a:pt x="0" y="0"/>
                  </a:moveTo>
                  <a:lnTo>
                    <a:pt x="4908640" y="0"/>
                  </a:lnTo>
                  <a:lnTo>
                    <a:pt x="4908640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E0087C75-F3E1-442C-1E26-D8F29F838C0E}"/>
                </a:ext>
              </a:extLst>
            </p:cNvPr>
            <p:cNvSpPr/>
            <p:nvPr/>
          </p:nvSpPr>
          <p:spPr>
            <a:xfrm>
              <a:off x="848880" y="490320"/>
              <a:ext cx="16578720" cy="9088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1" name="Freeform 5">
            <a:extLst>
              <a:ext uri="{FF2B5EF4-FFF2-40B4-BE49-F238E27FC236}">
                <a16:creationId xmlns:a16="http://schemas.microsoft.com/office/drawing/2014/main" id="{6CFEC86A-BE1E-12DF-9B88-380D558FF3CA}"/>
              </a:ext>
            </a:extLst>
          </p:cNvPr>
          <p:cNvSpPr/>
          <p:nvPr/>
        </p:nvSpPr>
        <p:spPr>
          <a:xfrm>
            <a:off x="1280520" y="8446320"/>
            <a:ext cx="731160" cy="685080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AutoShape 7">
            <a:extLst>
              <a:ext uri="{FF2B5EF4-FFF2-40B4-BE49-F238E27FC236}">
                <a16:creationId xmlns:a16="http://schemas.microsoft.com/office/drawing/2014/main" id="{CE4EE1AA-F85C-0EB4-35EA-2F4921F944A2}"/>
              </a:ext>
            </a:extLst>
          </p:cNvPr>
          <p:cNvSpPr/>
          <p:nvPr/>
        </p:nvSpPr>
        <p:spPr>
          <a:xfrm flipV="1">
            <a:off x="2381760" y="8721720"/>
            <a:ext cx="14863320" cy="117000"/>
          </a:xfrm>
          <a:custGeom>
            <a:avLst/>
            <a:gdLst/>
            <a:ahLst/>
            <a:cxnLst/>
            <a:rect l="l" t="t" r="r" b="b"/>
            <a:pathLst>
              <a:path w="2719098" h="21600">
                <a:moveTo>
                  <a:pt x="0" y="0"/>
                </a:moveTo>
                <a:lnTo>
                  <a:pt x="2719098" y="21600"/>
                </a:lnTo>
              </a:path>
            </a:pathLst>
          </a:custGeom>
          <a:noFill/>
          <a:ln w="38160">
            <a:solidFill>
              <a:srgbClr val="BCA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C7964D50-439D-36A6-F7AF-003E5F7E2408}"/>
              </a:ext>
            </a:extLst>
          </p:cNvPr>
          <p:cNvSpPr/>
          <p:nvPr/>
        </p:nvSpPr>
        <p:spPr>
          <a:xfrm>
            <a:off x="1494720" y="1145160"/>
            <a:ext cx="9495720" cy="12311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8000" b="1" spc="-1">
                <a:solidFill>
                  <a:srgbClr val="000000"/>
                </a:solidFill>
                <a:ea typeface="+mn-lt"/>
                <a:cs typeface="+mn-lt"/>
              </a:rPr>
              <a:t>Methodology</a:t>
            </a:r>
            <a:endParaRPr lang="en-US" sz="8000" spc="-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5BC1FFFC-9EB7-10C5-32BD-22AD17BC6BD0}"/>
              </a:ext>
            </a:extLst>
          </p:cNvPr>
          <p:cNvSpPr/>
          <p:nvPr/>
        </p:nvSpPr>
        <p:spPr>
          <a:xfrm>
            <a:off x="1496160" y="3753360"/>
            <a:ext cx="15513093" cy="332398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Our research focuses on the product market, an innovative solution designed 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to </a:t>
            </a: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make the product become a top-of-mind product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. </a:t>
            </a: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By understanding market demand, competition, and technology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, </a:t>
            </a: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we aim 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to </a:t>
            </a: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unlock this new product's potential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, </a:t>
            </a: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addressing critical needs 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and </a:t>
            </a:r>
            <a:r>
              <a:rPr lang="en-US" sz="3600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driving innovation </a:t>
            </a: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Inter"/>
                <a:cs typeface="Arial"/>
              </a:rPr>
              <a:t>in the </a:t>
            </a:r>
            <a:endParaRPr lang="en-US" sz="3600"/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8311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F6DBA-E02E-3BEC-7B46-FB98A06F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">
            <a:extLst>
              <a:ext uri="{FF2B5EF4-FFF2-40B4-BE49-F238E27FC236}">
                <a16:creationId xmlns:a16="http://schemas.microsoft.com/office/drawing/2014/main" id="{B746D291-A945-D123-9BF3-C9C460EEEF1F}"/>
              </a:ext>
            </a:extLst>
          </p:cNvPr>
          <p:cNvGrpSpPr/>
          <p:nvPr/>
        </p:nvGrpSpPr>
        <p:grpSpPr>
          <a:xfrm>
            <a:off x="848880" y="490320"/>
            <a:ext cx="16578720" cy="9088200"/>
            <a:chOff x="848880" y="490320"/>
            <a:chExt cx="16578720" cy="9088200"/>
          </a:xfrm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A99B4D62-14A9-8AA3-D9E8-10CF5D99A5A2}"/>
                </a:ext>
              </a:extLst>
            </p:cNvPr>
            <p:cNvSpPr/>
            <p:nvPr/>
          </p:nvSpPr>
          <p:spPr>
            <a:xfrm>
              <a:off x="848880" y="637560"/>
              <a:ext cx="16578720" cy="8940960"/>
            </a:xfrm>
            <a:custGeom>
              <a:avLst/>
              <a:gdLst/>
              <a:ahLst/>
              <a:cxnLst/>
              <a:rect l="l" t="t" r="r" b="b"/>
              <a:pathLst>
                <a:path w="4908640" h="2891600">
                  <a:moveTo>
                    <a:pt x="0" y="0"/>
                  </a:moveTo>
                  <a:lnTo>
                    <a:pt x="4908640" y="0"/>
                  </a:lnTo>
                  <a:lnTo>
                    <a:pt x="4908640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67F0599B-857E-1774-B790-ECC74BCE5A69}"/>
                </a:ext>
              </a:extLst>
            </p:cNvPr>
            <p:cNvSpPr/>
            <p:nvPr/>
          </p:nvSpPr>
          <p:spPr>
            <a:xfrm>
              <a:off x="848880" y="490320"/>
              <a:ext cx="16578720" cy="9088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1" name="Freeform 5">
            <a:extLst>
              <a:ext uri="{FF2B5EF4-FFF2-40B4-BE49-F238E27FC236}">
                <a16:creationId xmlns:a16="http://schemas.microsoft.com/office/drawing/2014/main" id="{A57E0DD4-AC0C-5A82-C7B8-44348073D878}"/>
              </a:ext>
            </a:extLst>
          </p:cNvPr>
          <p:cNvSpPr/>
          <p:nvPr/>
        </p:nvSpPr>
        <p:spPr>
          <a:xfrm>
            <a:off x="1280520" y="8446320"/>
            <a:ext cx="731160" cy="685080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AutoShape 7">
            <a:extLst>
              <a:ext uri="{FF2B5EF4-FFF2-40B4-BE49-F238E27FC236}">
                <a16:creationId xmlns:a16="http://schemas.microsoft.com/office/drawing/2014/main" id="{4AB846D3-1D71-964F-EDD2-23C26CFBFED0}"/>
              </a:ext>
            </a:extLst>
          </p:cNvPr>
          <p:cNvSpPr/>
          <p:nvPr/>
        </p:nvSpPr>
        <p:spPr>
          <a:xfrm flipV="1">
            <a:off x="2381760" y="8721720"/>
            <a:ext cx="14863320" cy="117000"/>
          </a:xfrm>
          <a:custGeom>
            <a:avLst/>
            <a:gdLst/>
            <a:ahLst/>
            <a:cxnLst/>
            <a:rect l="l" t="t" r="r" b="b"/>
            <a:pathLst>
              <a:path w="2719098" h="21600">
                <a:moveTo>
                  <a:pt x="0" y="0"/>
                </a:moveTo>
                <a:lnTo>
                  <a:pt x="2719098" y="21600"/>
                </a:lnTo>
              </a:path>
            </a:pathLst>
          </a:custGeom>
          <a:noFill/>
          <a:ln w="38160">
            <a:solidFill>
              <a:srgbClr val="BCA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645AC9AB-DF91-8EE6-0ADF-3A9873595BEE}"/>
              </a:ext>
            </a:extLst>
          </p:cNvPr>
          <p:cNvSpPr/>
          <p:nvPr/>
        </p:nvSpPr>
        <p:spPr>
          <a:xfrm>
            <a:off x="1494720" y="1145160"/>
            <a:ext cx="9495720" cy="12311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8000" b="1" spc="-1">
                <a:solidFill>
                  <a:srgbClr val="000000"/>
                </a:solidFill>
                <a:ea typeface="+mn-lt"/>
                <a:cs typeface="+mn-lt"/>
              </a:rPr>
              <a:t>Results</a:t>
            </a:r>
            <a:endParaRPr lang="en-US"/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4FD59BEB-7389-7419-4B26-7E0443885A66}"/>
              </a:ext>
            </a:extLst>
          </p:cNvPr>
          <p:cNvSpPr/>
          <p:nvPr/>
        </p:nvSpPr>
        <p:spPr>
          <a:xfrm>
            <a:off x="1496160" y="3753360"/>
            <a:ext cx="15064574" cy="276998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Qualitative research methods involve collecting and analyzing non-numerical data 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to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explore the underlying motivations, perceptions, and behaviors of individuals. In our research proposal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qualitative methods will be utilized 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to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gain in-depth insights into consumer preferences, attitudes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, and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experiences related to 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new product. 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69776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03AB0-372E-1ECE-3767-0BED0A13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">
            <a:extLst>
              <a:ext uri="{FF2B5EF4-FFF2-40B4-BE49-F238E27FC236}">
                <a16:creationId xmlns:a16="http://schemas.microsoft.com/office/drawing/2014/main" id="{10C91612-CD2D-78DF-59B4-07BBC87FDF6A}"/>
              </a:ext>
            </a:extLst>
          </p:cNvPr>
          <p:cNvGrpSpPr/>
          <p:nvPr/>
        </p:nvGrpSpPr>
        <p:grpSpPr>
          <a:xfrm>
            <a:off x="848880" y="490320"/>
            <a:ext cx="16578720" cy="9088200"/>
            <a:chOff x="848880" y="490320"/>
            <a:chExt cx="16578720" cy="9088200"/>
          </a:xfrm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13592841-12BD-C9D6-627E-0664EF260803}"/>
                </a:ext>
              </a:extLst>
            </p:cNvPr>
            <p:cNvSpPr/>
            <p:nvPr/>
          </p:nvSpPr>
          <p:spPr>
            <a:xfrm>
              <a:off x="848880" y="637560"/>
              <a:ext cx="16578720" cy="8940960"/>
            </a:xfrm>
            <a:custGeom>
              <a:avLst/>
              <a:gdLst/>
              <a:ahLst/>
              <a:cxnLst/>
              <a:rect l="l" t="t" r="r" b="b"/>
              <a:pathLst>
                <a:path w="4908640" h="2891600">
                  <a:moveTo>
                    <a:pt x="0" y="0"/>
                  </a:moveTo>
                  <a:lnTo>
                    <a:pt x="4908640" y="0"/>
                  </a:lnTo>
                  <a:lnTo>
                    <a:pt x="4908640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CDCFB68D-5FA0-3444-9E9C-0CFF48B3B065}"/>
                </a:ext>
              </a:extLst>
            </p:cNvPr>
            <p:cNvSpPr/>
            <p:nvPr/>
          </p:nvSpPr>
          <p:spPr>
            <a:xfrm>
              <a:off x="848880" y="490320"/>
              <a:ext cx="16578720" cy="9088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1" name="Freeform 5">
            <a:extLst>
              <a:ext uri="{FF2B5EF4-FFF2-40B4-BE49-F238E27FC236}">
                <a16:creationId xmlns:a16="http://schemas.microsoft.com/office/drawing/2014/main" id="{1CAE5355-D36C-39F4-34F5-723DB7CAE2BE}"/>
              </a:ext>
            </a:extLst>
          </p:cNvPr>
          <p:cNvSpPr/>
          <p:nvPr/>
        </p:nvSpPr>
        <p:spPr>
          <a:xfrm>
            <a:off x="1280520" y="8446320"/>
            <a:ext cx="731160" cy="685080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AutoShape 7">
            <a:extLst>
              <a:ext uri="{FF2B5EF4-FFF2-40B4-BE49-F238E27FC236}">
                <a16:creationId xmlns:a16="http://schemas.microsoft.com/office/drawing/2014/main" id="{B5812A13-B7FC-A421-CD3E-CA5781066D11}"/>
              </a:ext>
            </a:extLst>
          </p:cNvPr>
          <p:cNvSpPr/>
          <p:nvPr/>
        </p:nvSpPr>
        <p:spPr>
          <a:xfrm flipV="1">
            <a:off x="2381760" y="8721720"/>
            <a:ext cx="14863320" cy="117000"/>
          </a:xfrm>
          <a:custGeom>
            <a:avLst/>
            <a:gdLst/>
            <a:ahLst/>
            <a:cxnLst/>
            <a:rect l="l" t="t" r="r" b="b"/>
            <a:pathLst>
              <a:path w="2719098" h="21600">
                <a:moveTo>
                  <a:pt x="0" y="0"/>
                </a:moveTo>
                <a:lnTo>
                  <a:pt x="2719098" y="21600"/>
                </a:lnTo>
              </a:path>
            </a:pathLst>
          </a:custGeom>
          <a:noFill/>
          <a:ln w="38160">
            <a:solidFill>
              <a:srgbClr val="BCA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4B5EB91D-4F93-5E3A-22A6-433679C1BF30}"/>
              </a:ext>
            </a:extLst>
          </p:cNvPr>
          <p:cNvSpPr/>
          <p:nvPr/>
        </p:nvSpPr>
        <p:spPr>
          <a:xfrm>
            <a:off x="1494720" y="1145160"/>
            <a:ext cx="9495720" cy="12311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8000" b="1" spc="-1">
                <a:solidFill>
                  <a:srgbClr val="000000"/>
                </a:solidFill>
                <a:ea typeface="+mn-lt"/>
                <a:cs typeface="+mn-lt"/>
              </a:rPr>
              <a:t>Discussion</a:t>
            </a:r>
            <a:endParaRPr lang="en-US"/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EFDF16B0-BB18-623E-590E-224E4AFA50A9}"/>
              </a:ext>
            </a:extLst>
          </p:cNvPr>
          <p:cNvSpPr/>
          <p:nvPr/>
        </p:nvSpPr>
        <p:spPr>
          <a:xfrm>
            <a:off x="1496160" y="3753360"/>
            <a:ext cx="15064572" cy="16619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Administering structured questionnaires 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to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a large sample of respondents to gather data on consumer demographics, preferences, and purchase intentions regarding 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new product.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57235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7F0ED-30E2-6487-0EFA-49EF9EC2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">
            <a:extLst>
              <a:ext uri="{FF2B5EF4-FFF2-40B4-BE49-F238E27FC236}">
                <a16:creationId xmlns:a16="http://schemas.microsoft.com/office/drawing/2014/main" id="{6EB1D063-6A7A-9596-7C90-20F93F4DB07C}"/>
              </a:ext>
            </a:extLst>
          </p:cNvPr>
          <p:cNvGrpSpPr/>
          <p:nvPr/>
        </p:nvGrpSpPr>
        <p:grpSpPr>
          <a:xfrm>
            <a:off x="848880" y="490320"/>
            <a:ext cx="16578720" cy="9088200"/>
            <a:chOff x="848880" y="490320"/>
            <a:chExt cx="16578720" cy="9088200"/>
          </a:xfrm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A9799BA0-6635-CF51-DA22-64ECD01710C6}"/>
                </a:ext>
              </a:extLst>
            </p:cNvPr>
            <p:cNvSpPr/>
            <p:nvPr/>
          </p:nvSpPr>
          <p:spPr>
            <a:xfrm>
              <a:off x="848880" y="637560"/>
              <a:ext cx="16578720" cy="8940960"/>
            </a:xfrm>
            <a:custGeom>
              <a:avLst/>
              <a:gdLst/>
              <a:ahLst/>
              <a:cxnLst/>
              <a:rect l="l" t="t" r="r" b="b"/>
              <a:pathLst>
                <a:path w="4908640" h="2891600">
                  <a:moveTo>
                    <a:pt x="0" y="0"/>
                  </a:moveTo>
                  <a:lnTo>
                    <a:pt x="4908640" y="0"/>
                  </a:lnTo>
                  <a:lnTo>
                    <a:pt x="4908640" y="2891600"/>
                  </a:lnTo>
                  <a:lnTo>
                    <a:pt x="0" y="2891600"/>
                  </a:lnTo>
                  <a:close/>
                </a:path>
              </a:pathLst>
            </a:custGeom>
            <a:solidFill>
              <a:srgbClr val="EAD6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7480FA39-F4AA-E9B2-4DCB-12CE6F1F83A2}"/>
                </a:ext>
              </a:extLst>
            </p:cNvPr>
            <p:cNvSpPr/>
            <p:nvPr/>
          </p:nvSpPr>
          <p:spPr>
            <a:xfrm>
              <a:off x="848880" y="490320"/>
              <a:ext cx="16578720" cy="9088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1" name="Freeform 5">
            <a:extLst>
              <a:ext uri="{FF2B5EF4-FFF2-40B4-BE49-F238E27FC236}">
                <a16:creationId xmlns:a16="http://schemas.microsoft.com/office/drawing/2014/main" id="{14394291-8B2F-5AEA-45C8-F42B31D5ABF2}"/>
              </a:ext>
            </a:extLst>
          </p:cNvPr>
          <p:cNvSpPr/>
          <p:nvPr/>
        </p:nvSpPr>
        <p:spPr>
          <a:xfrm>
            <a:off x="1280520" y="8446320"/>
            <a:ext cx="731160" cy="685080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AutoShape 7">
            <a:extLst>
              <a:ext uri="{FF2B5EF4-FFF2-40B4-BE49-F238E27FC236}">
                <a16:creationId xmlns:a16="http://schemas.microsoft.com/office/drawing/2014/main" id="{2651F54B-5593-9545-9722-4F0997923C76}"/>
              </a:ext>
            </a:extLst>
          </p:cNvPr>
          <p:cNvSpPr/>
          <p:nvPr/>
        </p:nvSpPr>
        <p:spPr>
          <a:xfrm flipV="1">
            <a:off x="2381760" y="8721720"/>
            <a:ext cx="14863320" cy="117000"/>
          </a:xfrm>
          <a:custGeom>
            <a:avLst/>
            <a:gdLst/>
            <a:ahLst/>
            <a:cxnLst/>
            <a:rect l="l" t="t" r="r" b="b"/>
            <a:pathLst>
              <a:path w="2719098" h="21600">
                <a:moveTo>
                  <a:pt x="0" y="0"/>
                </a:moveTo>
                <a:lnTo>
                  <a:pt x="2719098" y="21600"/>
                </a:lnTo>
              </a:path>
            </a:pathLst>
          </a:custGeom>
          <a:noFill/>
          <a:ln w="38160">
            <a:solidFill>
              <a:srgbClr val="BCA3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48F3DD63-149C-6802-B31C-965301A9655A}"/>
              </a:ext>
            </a:extLst>
          </p:cNvPr>
          <p:cNvSpPr/>
          <p:nvPr/>
        </p:nvSpPr>
        <p:spPr>
          <a:xfrm>
            <a:off x="1494720" y="1145160"/>
            <a:ext cx="9495720" cy="12311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8000" b="1" spc="-1">
                <a:solidFill>
                  <a:srgbClr val="000000"/>
                </a:solidFill>
                <a:ea typeface="+mn-lt"/>
                <a:cs typeface="+mn-lt"/>
              </a:rPr>
              <a:t>Conclusion</a:t>
            </a:r>
            <a:endParaRPr lang="en-US"/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D2110CED-FDA3-4972-99A5-44820BE1B5F6}"/>
              </a:ext>
            </a:extLst>
          </p:cNvPr>
          <p:cNvSpPr/>
          <p:nvPr/>
        </p:nvSpPr>
        <p:spPr>
          <a:xfrm>
            <a:off x="1496160" y="3753360"/>
            <a:ext cx="14862018" cy="221599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The analysis for the product research proposal presentation encompasses a comprehensive examination of the market landscape, consumer insights, competitive dynamics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feasibility considerations</a:t>
            </a:r>
            <a:r>
              <a:rPr lang="en-US" sz="3600" b="0" strike="noStrike" spc="-1">
                <a:solidFill>
                  <a:srgbClr val="000000"/>
                </a:solidFill>
                <a:ea typeface="+mn-lt"/>
                <a:cs typeface="+mn-lt"/>
              </a:rPr>
              <a:t>, and </a:t>
            </a:r>
            <a:r>
              <a:rPr lang="en-US" sz="3600" spc="-1">
                <a:solidFill>
                  <a:srgbClr val="000000"/>
                </a:solidFill>
                <a:ea typeface="+mn-lt"/>
                <a:cs typeface="+mn-lt"/>
              </a:rPr>
              <a:t>strategic recommendations.</a:t>
            </a:r>
            <a:endParaRPr lang="en-US" sz="3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5131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0</Words>
  <Application>Microsoft Office PowerPoint</Application>
  <PresentationFormat>Custom</PresentationFormat>
  <Paragraphs>0</Paragraphs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White Simple Research Proposal Presentation</dc:title>
  <dc:subject/>
  <dc:creator/>
  <dc:description/>
  <cp:lastModifiedBy/>
  <cp:revision>246</cp:revision>
  <dcterms:created xsi:type="dcterms:W3CDTF">2006-08-16T00:00:00Z</dcterms:created>
  <dcterms:modified xsi:type="dcterms:W3CDTF">2025-12-02T10:58:04Z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